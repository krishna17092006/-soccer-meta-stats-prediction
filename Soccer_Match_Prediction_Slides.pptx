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UE24CS352A · MACHINE LEARNING · MINI-PROJECT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3231B"/>
                </a:solidFill>
                <a:latin typeface="Segoe UI"/>
              </a:rPr>
              <a:t>Gaining a Statistical Edge in
Soccer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b="0" i="0">
                <a:solidFill>
                  <a:srgbClr val="51635A"/>
                </a:solidFill>
                <a:latin typeface="Segoe UI"/>
              </a:rPr>
              <a:t>The role of meta-statistics in match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3231B"/>
                </a:solidFill>
                <a:latin typeface="Segoe UI"/>
              </a:rPr>
              <a:t>Kenche Srujana</a:t>
            </a:r>
            <a:r>
              <a:rPr sz="1100">
                <a:solidFill>
                  <a:srgbClr val="51635A"/>
                </a:solidFill>
              </a:rPr>
              <a:t>   PES1UG24CS227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3231B"/>
                </a:solidFill>
                <a:latin typeface="Segoe UI"/>
              </a:rPr>
              <a:t>Krishna Keerthan Reddy D R</a:t>
            </a:r>
            <a:r>
              <a:rPr sz="1100">
                <a:solidFill>
                  <a:srgbClr val="51635A"/>
                </a:solidFill>
              </a:rPr>
              <a:t>   PES1UG24CS237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1635A"/>
                </a:solidFill>
                <a:latin typeface="Segoe UI"/>
              </a:rPr>
              <a:t>Team 20</a:t>
            </a:r>
            <a:r>
              <a:rPr sz="1200" b="1" i="0">
                <a:solidFill>
                  <a:srgbClr val="1F6B3F"/>
                </a:solidFill>
                <a:latin typeface="Segoe UI"/>
              </a:rPr>
              <a:t>   ·   Problem Statement #69</a:t>
            </a:r>
            <a:r>
              <a:rPr sz="1200" b="0" i="0">
                <a:solidFill>
                  <a:srgbClr val="51635A"/>
                </a:solidFill>
                <a:latin typeface="Segoe UI"/>
              </a:rPr>
              <a:t>   ·   EPL 2019–2025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Raw match stats are outcomes,
not predictors.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1635A"/>
                </a:solidFill>
                <a:latin typeface="Segoe UI"/>
              </a:rPr>
              <a:t>Home win, draw, or away win — a three-way call every pundit makes from gut feel. Naive models average a team's own raw numbers: goals, shots, corners. But those numbers are themselves the result of matches already played — weaker forward-looking signal than they seem to carry.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3231B"/>
                </a:solidFill>
                <a:latin typeface="Segoe UI"/>
              </a:rPr>
              <a:t>Can we beat a baseline built only on a team's own raw match stats?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13231B"/>
                </a:solidFill>
                <a:latin typeface="Segoe UI"/>
              </a:rPr>
              <a:t>Does engineering meta-statistics — strength ratings, form, market odds — give a real, measurable edge?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02 ·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Six seasons of the Premier League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51635A"/>
                </a:solidFill>
                <a:latin typeface="Segoe UI"/>
              </a:rPr>
              <a:t>Pulled live from football-data.co.uk — no manual download, no Kaggle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31089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3000" b="1" i="0">
                <a:solidFill>
                  <a:srgbClr val="13231B"/>
                </a:solidFill>
                <a:latin typeface="Segoe UI"/>
              </a:rPr>
              <a:t>2,280</a:t>
            </a:r>
          </a:p>
          <a:p>
            <a:pPr>
              <a:spcBef>
                <a:spcPts val="200"/>
              </a:spcBef>
            </a:pPr>
            <a:r>
              <a:rPr sz="1050" b="1" i="0" spc="60">
                <a:solidFill>
                  <a:srgbClr val="51635A"/>
                </a:solidFill>
                <a:latin typeface="Segoe UI"/>
              </a:rPr>
              <a:t>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468880"/>
            <a:ext cx="31089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3000" b="1" i="0">
                <a:solidFill>
                  <a:srgbClr val="13231B"/>
                </a:solidFill>
                <a:latin typeface="Segoe UI"/>
              </a:rPr>
              <a:t>6</a:t>
            </a:r>
          </a:p>
          <a:p>
            <a:pPr>
              <a:spcBef>
                <a:spcPts val="200"/>
              </a:spcBef>
            </a:pPr>
            <a:r>
              <a:rPr sz="1050" b="1" i="0" spc="60">
                <a:solidFill>
                  <a:srgbClr val="51635A"/>
                </a:solidFill>
                <a:latin typeface="Segoe UI"/>
              </a:rPr>
              <a:t>SEASONS · 2019/20–2024/25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468880"/>
            <a:ext cx="31089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sz="3000" b="1" i="0">
                <a:solidFill>
                  <a:srgbClr val="13231B"/>
                </a:solidFill>
                <a:latin typeface="Segoe UI"/>
              </a:rPr>
              <a:t>20</a:t>
            </a:r>
          </a:p>
          <a:p>
            <a:pPr>
              <a:spcBef>
                <a:spcPts val="200"/>
              </a:spcBef>
            </a:pPr>
            <a:r>
              <a:rPr sz="1050" b="1" i="0" spc="60">
                <a:solidFill>
                  <a:srgbClr val="51635A"/>
                </a:solidFill>
                <a:latin typeface="Segoe UI"/>
              </a:rPr>
              <a:t>CLUBS PER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1635A"/>
                </a:solidFill>
                <a:latin typeface="Segoe UI"/>
              </a:rPr>
              <a:t>Each row: date, teams, final score, shot counts, and closing bookmaker odds — the raw material for both feature 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03 · THE 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Two feature sets, same models,
head-to-head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45720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500" b="1" i="0">
                <a:solidFill>
                  <a:srgbClr val="13231B"/>
                </a:solidFill>
                <a:latin typeface="Segoe UI"/>
              </a:rPr>
              <a:t>Baseline — raw statistics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1635A"/>
                </a:solidFill>
                <a:latin typeface="Segoe UI"/>
              </a:rPr>
              <a:t>Rolling averages (last 5 games) of a team's own goals scored, goal difference, and shots.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301752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spc="60">
                <a:solidFill>
                  <a:srgbClr val="51635A"/>
                </a:solidFill>
                <a:latin typeface="Segoe UI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48463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500" b="1" i="0">
                <a:solidFill>
                  <a:srgbClr val="1F6B3F"/>
                </a:solidFill>
                <a:latin typeface="Segoe UI"/>
              </a:rPr>
              <a:t>Meta-statistics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1635A"/>
                </a:solidFill>
                <a:latin typeface="Segoe UI"/>
              </a:rPr>
              <a:t>Elo rating, recent form, goal-difference trend, rest days, head-to-head history, and de-vigorized market-implied probability.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51635A"/>
                </a:solidFill>
                <a:latin typeface="Segoe UI"/>
              </a:rPr>
              <a:t>Same models trained on each set — so any accuracy gap is caused by the features, not the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04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Rule #1: no peeking at the future.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51635A"/>
                </a:solidFill>
                <a:latin typeface="Segoe UI"/>
              </a:rPr>
              <a:t>Every feature for a match uses only information available strictly before kickoff. Matches are processed in chronological order; a team's Elo, form, and head-to-head record update only after that match's features are already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40480"/>
            <a:ext cx="9418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98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500" b="1" i="0">
                <a:solidFill>
                  <a:srgbClr val="B9842F"/>
                </a:solidFill>
                <a:latin typeface="Segoe UI"/>
              </a:rPr>
              <a:t>Why it matters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1635A"/>
                </a:solidFill>
                <a:latin typeface="Segoe UI"/>
              </a:rPr>
              <a:t>Skip this and the model silently “learns” from information it would never have had before kickoff — inflating accuracy with results that don't hold up on new matches.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05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Data to decision, seven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6959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1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Download
6 seasons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6847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2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Clean &amp;
de-vig odds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6735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3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EDA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6623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4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Leak-free
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36511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5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Chronological
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6399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6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Train &amp;
evaluate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6287" y="2468880"/>
            <a:ext cx="1298448" cy="1051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 i="0">
                <a:solidFill>
                  <a:srgbClr val="1F6B3F"/>
                </a:solidFill>
                <a:latin typeface="Segoe UI"/>
              </a:rPr>
              <a:t>7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050" b="1" i="0">
                <a:solidFill>
                  <a:srgbClr val="13231B"/>
                </a:solidFill>
                <a:latin typeface="Segoe UI"/>
              </a:rPr>
              <a:t>Interpret
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1635A"/>
                </a:solidFill>
                <a:latin typeface="Segoe UI"/>
              </a:rPr>
              <a:t>Models: Logistic Regression &amp; Random Forest  ·  notebooks/Soccer_Match_Prediction.ipynb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06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Train on the past, test on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1635A"/>
                </a:solidFill>
                <a:latin typeface="Segoe UI"/>
              </a:rPr>
              <a:t>Chronological split, not random — the only valid approach for time-ordered sports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6032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500" b="1" i="0">
                <a:solidFill>
                  <a:srgbClr val="1F6B3F"/>
                </a:solidFill>
                <a:latin typeface="Segoe UI"/>
              </a:rPr>
              <a:t>Train — 1,900 matches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1635A"/>
                </a:solidFill>
                <a:latin typeface="Segoe UI"/>
              </a:rPr>
              <a:t>First five seasons: 2019/20 through 2023/24.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560320"/>
            <a:ext cx="4846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98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500" b="1" i="0">
                <a:solidFill>
                  <a:srgbClr val="B9842F"/>
                </a:solidFill>
                <a:latin typeface="Segoe UI"/>
              </a:rPr>
              <a:t>Test — 380 matches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51635A"/>
                </a:solidFill>
                <a:latin typeface="Segoe UI"/>
              </a:rPr>
              <a:t>Held out entirely: the 2024/25 season, never touched during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07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Meta-statistics win, consistently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920240"/>
          <a:ext cx="10424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 spc="40">
                          <a:solidFill>
                            <a:srgbClr val="FFFFFF"/>
                          </a:solidFill>
                          <a:latin typeface="Segoe UI"/>
                        </a:rPr>
                        <a:t>FEATURE SET</a:t>
                      </a:r>
                    </a:p>
                  </a:txBody>
                  <a:tcPr marL="109728" marR="109728" anchor="ctr">
                    <a:solidFill>
                      <a:srgbClr val="1323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 spc="40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1323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 spc="40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109728" marR="109728" anchor="ctr">
                    <a:solidFill>
                      <a:srgbClr val="1323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 spc="40">
                          <a:solidFill>
                            <a:srgbClr val="FFFFFF"/>
                          </a:solidFill>
                          <a:latin typeface="Segoe UI"/>
                        </a:rPr>
                        <a:t>F1 (MACRO)</a:t>
                      </a:r>
                    </a:p>
                  </a:txBody>
                  <a:tcPr marL="109728" marR="109728" anchor="ctr">
                    <a:solidFill>
                      <a:srgbClr val="1323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 spc="40">
                          <a:solidFill>
                            <a:srgbClr val="FFFFFF"/>
                          </a:solidFill>
                          <a:latin typeface="Segoe UI"/>
                        </a:rPr>
                        <a:t>LOG-LOSS</a:t>
                      </a:r>
                    </a:p>
                  </a:txBody>
                  <a:tcPr marL="109728" marR="109728" anchor="ctr">
                    <a:solidFill>
                      <a:srgbClr val="132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1635A"/>
                          </a:solidFill>
                          <a:latin typeface="Segoe UI"/>
                        </a:rPr>
                        <a:t>Majority-class baseline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51635A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51635A"/>
                          </a:solidFill>
                          <a:latin typeface="Segoe UI"/>
                        </a:rPr>
                        <a:t>0.408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51635A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51635A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Baseline (raw stats)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LogReg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0.505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0.378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1.022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Baseline (raw stats)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RandForest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0.500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0.372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1.049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Meta-statistics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LogReg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0.545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0.409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0.977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Meta-statistics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RandForest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0.542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0.409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3231B"/>
                          </a:solidFill>
                          <a:latin typeface="Segoe UI"/>
                        </a:rPr>
                        <a:t>0.966</a:t>
                      </a:r>
                    </a:p>
                  </a:txBody>
                  <a:tcPr marL="109728" marR="109728" anchor="ctr">
                    <a:solidFill>
                      <a:srgbClr val="DC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Combined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LogReg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0.542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0.406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0.981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Combined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RandForest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0.537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0.405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3231B"/>
                          </a:solidFill>
                          <a:latin typeface="Segoe UI"/>
                        </a:rPr>
                        <a:t>0.977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07 · RESULTS, VISUALLY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3231B"/>
                </a:solidFill>
                <a:latin typeface="Segoe UI"/>
              </a:rPr>
              <a:t>A clean, repeatable lift over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600200"/>
            <a:ext cx="8961120" cy="602361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37360"/>
            <a:ext cx="8686800" cy="5429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723976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1635A"/>
                </a:solidFill>
                <a:latin typeface="Segoe UI"/>
              </a:rPr>
              <a:t>Test-set accuracy by feature set &amp; model — 2024/25 season, held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08 · WHAT MATTERED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The market already knows a 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943600" cy="38339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5669280" cy="32395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0501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1635A"/>
                </a:solidFill>
                <a:latin typeface="Segoe UI"/>
              </a:rPr>
              <a:t>Feature importance — meta-statistics Random Forest.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51635A"/>
                </a:solidFill>
                <a:latin typeface="Segoe UI"/>
              </a:rPr>
              <a:t>Market-implied probability and Elo rating difference are the two strongest single predictors — the “wisdom of the crowd” and a compounding strength rating beat any single raw stat.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09 ·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3231B"/>
                </a:solidFill>
                <a:latin typeface="Segoe UI"/>
              </a:rPr>
              <a:t>The statistical edge is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13231B"/>
                </a:solidFill>
                <a:latin typeface="Segoe UI"/>
              </a:rPr>
              <a:t>A majority-class guess (“always Home win”) reaches ~41% — the floor to beat.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13231B"/>
                </a:solidFill>
                <a:latin typeface="Segoe UI"/>
              </a:rPr>
              <a:t>Raw per-match stats, rolling-averaged, barely clear that floor (~50%).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13231B"/>
                </a:solidFill>
                <a:latin typeface="Segoe UI"/>
              </a:rPr>
              <a:t>Meta-statistics give a consistent ~4-point accuracy lift and lower log-loss, on both a linear and a tree-based model.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100" b="1" i="0">
                <a:solidFill>
                  <a:srgbClr val="1F6B3F"/>
                </a:solidFill>
                <a:latin typeface="Segoe UI"/>
              </a:rPr>
              <a:t>●  </a:t>
            </a:r>
            <a:r>
              <a:rPr sz="1450" b="0" i="0">
                <a:solidFill>
                  <a:srgbClr val="13231B"/>
                </a:solidFill>
                <a:latin typeface="Segoe UI"/>
              </a:rPr>
              <a:t>Combining both sets doesn't beat meta-statistics alone — raw stats add little that Elo, form, and market odds don't already capture.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51635A"/>
                </a:solidFill>
                <a:latin typeface="Segoe UI"/>
              </a:rPr>
              <a:t>Limitations: single league, no player-level data. Future work: gradient boosting, multi-league generalization, recency-weighted Elo.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822960"/>
            <a:ext cx="32004" cy="5212080"/>
          </a:xfrm>
          <a:prstGeom prst="roundRect">
            <a:avLst/>
          </a:prstGeom>
          <a:solidFill>
            <a:srgbClr val="1F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spc="120">
                <a:solidFill>
                  <a:srgbClr val="1F6B3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3231B"/>
                </a:solidFill>
                <a:latin typeface="Segoe UI"/>
              </a:rPr>
              <a:t>Questions? We're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51635A"/>
                </a:solidFill>
                <a:latin typeface="Segoe UI"/>
              </a:rPr>
              <a:t>Full pipeline, write-up, and results: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F6B3F"/>
                </a:solidFill>
                <a:latin typeface="Segoe UI"/>
              </a:rPr>
              <a:t>notebooks/Soccer_Match_Prediction.ipynb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3231B"/>
                </a:solidFill>
                <a:latin typeface="Segoe UI"/>
              </a:rPr>
              <a:t>Kenche Srujana</a:t>
            </a:r>
            <a:r>
              <a:rPr sz="1100">
                <a:solidFill>
                  <a:srgbClr val="51635A"/>
                </a:solidFill>
              </a:rPr>
              <a:t>   PES1UG24CS227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3231B"/>
                </a:solidFill>
                <a:latin typeface="Segoe UI"/>
              </a:rPr>
              <a:t>Krishna Keerthan Reddy D R</a:t>
            </a:r>
            <a:r>
              <a:rPr sz="1100">
                <a:solidFill>
                  <a:srgbClr val="51635A"/>
                </a:solidFill>
              </a:rPr>
              <a:t>   PES1UG24CS237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1635A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803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Gaining a Statistical Edge in Soccer Prediction using Machine Learning</dc:title>
  <dc:subject>UE24CS352A Machine Learning Mini-Project</dc:subject>
  <dc:creator>Kenche Srujana, Krishna Keerthan Reddy D R</dc:creator>
  <cp:keywords/>
  <dc:description>generated using python-pptx</dc:description>
  <cp:lastModifiedBy>krishnakeerthan2006@gmail.com</cp:lastModifiedBy>
  <cp:revision>2</cp:revision>
  <dcterms:created xsi:type="dcterms:W3CDTF">2013-01-27T09:14:16Z</dcterms:created>
  <dcterms:modified xsi:type="dcterms:W3CDTF">2026-10-02T06:39:29Z</dcterms:modified>
  <cp:category/>
</cp:coreProperties>
</file>